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1C1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C1C1C"/>
                </a:solidFill>
                <a:latin typeface="Arial"/>
              </a:rPr>
              <a:t>Test F1 Score 비교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F1</c:v>
                </c:pt>
              </c:strCache>
            </c:strRef>
          </c:tx>
          <c:spPr>
            <a:solidFill>
              <a:srgbClr val="636E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36EF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36E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36EF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36EF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B95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Logistic
Regression</c:v>
                  </c:pt>
                  <c:pt idx="1">
                    <c:v>RF
(default)</c:v>
                  </c:pt>
                  <c:pt idx="2">
                    <c:v>RF
(tuned)</c:v>
                  </c:pt>
                  <c:pt idx="3">
                    <c:v>XGBoost
(default)</c:v>
                  </c:pt>
                  <c:pt idx="4">
                    <c:v>XGBoost
(tuned)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0.242</c:v>
                </c:pt>
                <c:pt idx="1">
                  <c:v>0.073</c:v>
                </c:pt>
                <c:pt idx="2">
                  <c:v>0.277</c:v>
                </c:pt>
                <c:pt idx="3">
                  <c:v>0.275</c:v>
                </c:pt>
                <c:pt idx="4">
                  <c:v>0.294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DB9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key</c:v>
                  </c:pt>
                  <c:pt idx="1">
                    <c:v>mode</c:v>
                  </c:pt>
                  <c:pt idx="2">
                    <c:v>tempo</c:v>
                  </c:pt>
                  <c:pt idx="3">
                    <c:v>speechiness</c:v>
                  </c:pt>
                  <c:pt idx="4">
                    <c:v>danceability</c:v>
                  </c:pt>
                  <c:pt idx="5">
                    <c:v>valence</c:v>
                  </c:pt>
                  <c:pt idx="6">
                    <c:v>liveness</c:v>
                  </c:pt>
                  <c:pt idx="7">
                    <c:v>duration_min</c:v>
                  </c:pt>
                  <c:pt idx="8">
                    <c:v>energy</c:v>
                  </c:pt>
                  <c:pt idx="9">
                    <c:v>acousticness</c:v>
                  </c:pt>
                  <c:pt idx="10">
                    <c:v>loudness</c:v>
                  </c:pt>
                  <c:pt idx="11">
                    <c:v>instrumentalness</c:v>
                  </c:pt>
                  <c:pt idx="12">
                    <c:v>explicit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0.057</c:v>
                </c:pt>
                <c:pt idx="1">
                  <c:v>0.059</c:v>
                </c:pt>
                <c:pt idx="2">
                  <c:v>0.065</c:v>
                </c:pt>
                <c:pt idx="3">
                  <c:v>0.066</c:v>
                </c:pt>
                <c:pt idx="4">
                  <c:v>0.068</c:v>
                </c:pt>
                <c:pt idx="5">
                  <c:v>0.07</c:v>
                </c:pt>
                <c:pt idx="6">
                  <c:v>0.073</c:v>
                </c:pt>
                <c:pt idx="7">
                  <c:v>0.075</c:v>
                </c:pt>
                <c:pt idx="8">
                  <c:v>0.075</c:v>
                </c:pt>
                <c:pt idx="9">
                  <c:v>0.078</c:v>
                </c:pt>
                <c:pt idx="10">
                  <c:v>0.08</c:v>
                </c:pt>
                <c:pt idx="11">
                  <c:v>0.098</c:v>
                </c:pt>
                <c:pt idx="12">
                  <c:v>0.14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1C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365760"/>
            <a:ext cx="3200400" cy="3200400"/>
          </a:xfrm>
          <a:prstGeom prst="ellipse">
            <a:avLst/>
          </a:prstGeom>
          <a:solidFill>
            <a:srgbClr val="1DB954">
              <a:alpha val="12000"/>
            </a:srgbClr>
          </a:solidFill>
          <a:ln w="12700">
            <a:solidFill>
              <a:srgbClr val="1DB954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1DB954">
              <a:alpha val="8000"/>
            </a:srgbClr>
          </a:solidFill>
          <a:ln w="12700">
            <a:solidFill>
              <a:srgbClr val="1DB954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194560" cy="34747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212"/>
                </a:solidFill>
              </a:rPr>
              <a:t>ML TERM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217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소리만으로</a:t>
            </a:r>
            <a:endParaRPr lang="en-US" sz="4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히트곡을</a:t>
            </a:r>
            <a:endParaRPr lang="en-US" sz="4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예측할 수 있을까?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3B3B3"/>
                </a:solidFill>
              </a:rPr>
              <a:t>Spotify 오디오 피처 기반 인기곡 분류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0"/>
            <a:ext cx="1645920" cy="411480"/>
          </a:xfrm>
          <a:prstGeom prst="rect">
            <a:avLst/>
          </a:prstGeom>
          <a:solidFill>
            <a:srgbClr val="1E1E1E"/>
          </a:solidFill>
          <a:ln w="12700">
            <a:solidFill>
              <a:srgbClr val="5353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572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🎵  114,000곡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4572000"/>
            <a:ext cx="1645920" cy="411480"/>
          </a:xfrm>
          <a:prstGeom prst="rect">
            <a:avLst/>
          </a:prstGeom>
          <a:solidFill>
            <a:srgbClr val="1E1E1E"/>
          </a:solidFill>
          <a:ln w="12700">
            <a:solidFill>
              <a:srgbClr val="5353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4572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📊  13개 피처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4572000"/>
            <a:ext cx="1645920" cy="411480"/>
          </a:xfrm>
          <a:prstGeom prst="rect">
            <a:avLst/>
          </a:prstGeom>
          <a:solidFill>
            <a:srgbClr val="1E1E1E"/>
          </a:solidFill>
          <a:ln w="12700">
            <a:solidFill>
              <a:srgbClr val="5353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4572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🤖  3개 모델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왜 이 문제인가?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1C"/>
                </a:solidFill>
              </a:rPr>
              <a:t>Spotify에는 매일 6만 곡이 새로 올라온다.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1C"/>
                </a:solidFill>
              </a:rPr>
              <a:t>하지만 대부분의 곡은 거의 재생되지 않는다.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5029200" cy="1097280"/>
          </a:xfrm>
          <a:prstGeom prst="rect">
            <a:avLst/>
          </a:prstGeom>
          <a:solidFill>
            <a:srgbClr val="1DB954">
              <a:alpha val="90000"/>
            </a:srgbClr>
          </a:solidFill>
          <a:ln w="25400">
            <a:solidFill>
              <a:srgbClr val="1DB9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2402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121212"/>
                </a:solidFill>
              </a:rPr>
              <a:t>" 유명세·마케팅 없이,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i="1" dirty="0">
                <a:solidFill>
                  <a:srgbClr val="121212"/>
                </a:solidFill>
              </a:rPr>
              <a:t>소리 자체만으로 인기곡을 구분할 수 있는가? 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5353"/>
                </a:solidFill>
              </a:rPr>
              <a:t>Spotify는 모든 곡의 음향 특성을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35353"/>
                </a:solidFill>
              </a:rPr>
              <a:t>자동 수치화 → 발매 전에도 계산 가능!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05156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051560"/>
            <a:ext cx="73152" cy="10515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1612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B954"/>
                </a:solidFill>
              </a:rPr>
              <a:t>1억+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46520" y="1645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35353"/>
                </a:solidFill>
              </a:rPr>
              <a:t>Spotify 전체 트랙 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286000"/>
            <a:ext cx="73152" cy="10515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3957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B954"/>
                </a:solidFill>
              </a:rPr>
              <a:t>60,000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46520" y="2880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35353"/>
                </a:solidFill>
              </a:rPr>
              <a:t>하루 신규 업로드 곡 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52044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520440"/>
            <a:ext cx="73152" cy="10515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6301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B954"/>
                </a:solidFill>
              </a:rPr>
              <a:t>11%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46520" y="4114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35353"/>
                </a:solidFill>
              </a:rPr>
              <a:t>인기곡 비율 (이 데이터셋)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114,000곡의 소리를 수치로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80467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607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danceability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춤추기 적합한 정도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243584"/>
            <a:ext cx="822960" cy="292608"/>
          </a:xfrm>
          <a:prstGeom prst="rect">
            <a:avLst/>
          </a:prstGeom>
          <a:solidFill>
            <a:srgbClr val="EBF9F0"/>
          </a:solidFill>
          <a:ln w="12700">
            <a:solidFill>
              <a:srgbClr val="1DB954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2435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A3E"/>
                </a:solidFill>
              </a:rPr>
              <a:t>0 –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05840"/>
            <a:ext cx="64008" cy="80467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0607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energy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3898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얼마나 강렬한가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63840" y="1243584"/>
            <a:ext cx="822960" cy="292608"/>
          </a:xfrm>
          <a:prstGeom prst="rect">
            <a:avLst/>
          </a:prstGeom>
          <a:solidFill>
            <a:srgbClr val="EBF9F0"/>
          </a:solidFill>
          <a:ln w="12700">
            <a:solidFill>
              <a:srgbClr val="1DB954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12435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A3E"/>
                </a:solidFill>
              </a:rPr>
              <a:t>0 – 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9659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1965960"/>
            <a:ext cx="64008" cy="80467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0208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loudness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350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평균 음량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29000" y="2203704"/>
            <a:ext cx="822960" cy="292608"/>
          </a:xfrm>
          <a:prstGeom prst="rect">
            <a:avLst/>
          </a:prstGeom>
          <a:solidFill>
            <a:srgbClr val="EBF9F0"/>
          </a:solidFill>
          <a:ln w="12700">
            <a:solidFill>
              <a:srgbClr val="1DB954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2037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A3E"/>
                </a:solidFill>
              </a:rPr>
              <a:t>dB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19659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965960"/>
            <a:ext cx="64008" cy="80467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0208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instrumentalness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2350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보컬 없이 악기만?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863840" y="2203704"/>
            <a:ext cx="822960" cy="292608"/>
          </a:xfrm>
          <a:prstGeom prst="rect">
            <a:avLst/>
          </a:prstGeom>
          <a:solidFill>
            <a:srgbClr val="EBF9F0"/>
          </a:solidFill>
          <a:ln w="12700">
            <a:solidFill>
              <a:srgbClr val="1DB95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22037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A3E"/>
                </a:solidFill>
              </a:rPr>
              <a:t>0 – 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9260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2926080"/>
            <a:ext cx="64008" cy="80467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9809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acousticness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33101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어쿠스틱 악기 비율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29000" y="3163824"/>
            <a:ext cx="822960" cy="292608"/>
          </a:xfrm>
          <a:prstGeom prst="rect">
            <a:avLst/>
          </a:prstGeom>
          <a:solidFill>
            <a:srgbClr val="EBF9F0"/>
          </a:solidFill>
          <a:ln w="12700">
            <a:solidFill>
              <a:srgbClr val="1DB954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31638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A3E"/>
                </a:solidFill>
              </a:rPr>
              <a:t>0 – 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29260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2926080"/>
            <a:ext cx="64008" cy="80467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29809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valence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83480" y="33101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밝고 긍정적인 분위기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863840" y="3163824"/>
            <a:ext cx="822960" cy="292608"/>
          </a:xfrm>
          <a:prstGeom prst="rect">
            <a:avLst/>
          </a:prstGeom>
          <a:solidFill>
            <a:srgbClr val="EBF9F0"/>
          </a:solidFill>
          <a:ln w="12700">
            <a:solidFill>
              <a:srgbClr val="1DB954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31638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A3E"/>
                </a:solidFill>
              </a:rPr>
              <a:t>0 – 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88620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3886200"/>
            <a:ext cx="64008" cy="80467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941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tempo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4270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빠르기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429000" y="4123944"/>
            <a:ext cx="822960" cy="292608"/>
          </a:xfrm>
          <a:prstGeom prst="rect">
            <a:avLst/>
          </a:prstGeom>
          <a:solidFill>
            <a:srgbClr val="EBF9F0"/>
          </a:solidFill>
          <a:ln w="12700">
            <a:solidFill>
              <a:srgbClr val="1DB954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29000" y="41239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A3E"/>
                </a:solidFill>
              </a:rPr>
              <a:t>BPM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00600" y="388620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00600" y="3886200"/>
            <a:ext cx="64008" cy="80467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83480" y="3941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explicit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83480" y="4270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선정적 가사 여부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863840" y="4123944"/>
            <a:ext cx="822960" cy="292608"/>
          </a:xfrm>
          <a:prstGeom prst="rect">
            <a:avLst/>
          </a:prstGeom>
          <a:solidFill>
            <a:srgbClr val="EBF9F0"/>
          </a:solidFill>
          <a:ln w="12700">
            <a:solidFill>
              <a:srgbClr val="1DB954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63840" y="41239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A3E"/>
                </a:solidFill>
              </a:rPr>
              <a:t>0 / 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FFF8E1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6914"/>
                </a:solidFill>
              </a:rPr>
              <a:t>⚠  타겟: popularity ≥ 60이면 인기곡(1), 미만이면 비인기곡(0) — 전체의 약 11%만 인기곡 → 클래스 불균형!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어떻게 풀었나 — 3단계 모델 비교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651760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Logistic 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353"/>
                </a:solidFill>
              </a:rPr>
              <a:t>가장 단순한 선형 분류기.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5353"/>
                </a:solidFill>
              </a:rPr>
              <a:t>성능의 하한선 기준점 역할.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05840"/>
            <a:ext cx="265176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앙상블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42646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353"/>
                </a:solidFill>
              </a:rPr>
              <a:t>수백 개 결정 트리를 합산.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5353"/>
                </a:solidFill>
              </a:rPr>
              <a:t>비선형 패턴 학습 가능.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00584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005840"/>
            <a:ext cx="2651760" cy="34747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42646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</a:rPr>
              <a:t>XGBoost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5353"/>
                </a:solidFill>
              </a:rPr>
              <a:t>오류에 집중하며 순차 개선.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5353"/>
                </a:solidFill>
              </a:rPr>
              <a:t>하이퍼파라미터 자동 탐색.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71800" y="2194560"/>
            <a:ext cx="274320" cy="0"/>
          </a:xfrm>
          <a:prstGeom prst="line">
            <a:avLst/>
          </a:prstGeom>
          <a:noFill/>
          <a:ln w="31750">
            <a:solidFill>
              <a:srgbClr val="1DB9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36392" y="206654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DB954"/>
                </a:solidFill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2194560"/>
            <a:ext cx="274320" cy="0"/>
          </a:xfrm>
          <a:prstGeom prst="line">
            <a:avLst/>
          </a:prstGeom>
          <a:noFill/>
          <a:ln w="31750">
            <a:solidFill>
              <a:srgbClr val="1DB9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206654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DB954"/>
                </a:solidFill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566160"/>
            <a:ext cx="3931920" cy="1417320"/>
          </a:xfrm>
          <a:prstGeom prst="rect">
            <a:avLst/>
          </a:prstGeom>
          <a:solidFill>
            <a:srgbClr val="FFF3F3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566160"/>
            <a:ext cx="393192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566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 실험 중 발견한 문제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97764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</a:rPr>
              <a:t>초기 결과: Accuracy 89%, F1 = 0.00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</a:rPr>
              <a:t>→ 모델이 모든 곡을 "비인기"로만 예측!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</a:rPr>
              <a:t>→ 해결: 인기곡에 8배 더 높은 가중치 부여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3566160"/>
            <a:ext cx="4114800" cy="1417320"/>
          </a:xfrm>
          <a:prstGeom prst="rect">
            <a:avLst/>
          </a:prstGeom>
          <a:solidFill>
            <a:srgbClr val="EBF9F0"/>
          </a:solidFill>
          <a:ln w="19050">
            <a:solidFill>
              <a:srgbClr val="1DB9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566160"/>
            <a:ext cx="4114800" cy="34747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5661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💡  핵심 교훈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397764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</a:rPr>
              <a:t>정확도(Accuracy)만 믿으면 안 된다.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</a:rPr>
              <a:t>F1 Score가 불균형 데이터의 진짜 성능 지표.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</a:rPr>
              <a:t>XGBoost 60번 실험 → 최적 파라미터 탐색.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실험 결과 — XGBoost가 가장 좋았다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4937760" cy="3108960"/>
        </p:xfrm>
        <a:graphic>
          <a:graphicData uri="http://schemas.openxmlformats.org/drawingml/2006/table">
            <a:tbl>
              <a:tblPr/>
              <a:tblGrid>
                <a:gridCol w="2011680"/>
                <a:gridCol w="960120"/>
                <a:gridCol w="960120"/>
                <a:gridCol w="9601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Accuracy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F1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AUC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0.543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 (default)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 (tuned)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 (default)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  XGBoost (tuned)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A3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5394960" y="914400"/>
          <a:ext cx="35661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224528"/>
            <a:ext cx="841248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42245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8A3E"/>
                </a:solidFill>
              </a:rPr>
              <a:t>F1 Score: 인기곡을 얼마나 잘 찾아내는가 (0~1, 높을수록 좋음)  |  AUC: 랜덤 추측(0.5)보다 얼마나 더 잘 구분하는가  |  XGBoost(tuned) AUC 0.722 → 랜덤 대비 +22%p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무엇이 인기를 결정하는가?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23560" y="960120"/>
            <a:ext cx="3291840" cy="1207008"/>
          </a:xfrm>
          <a:prstGeom prst="rect">
            <a:avLst/>
          </a:prstGeom>
          <a:solidFill>
            <a:srgbClr val="FFF3E0"/>
          </a:solidFill>
          <a:ln w="1905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60720" y="10332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🥇 1위  explicit  (0.140)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60720" y="14173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선정적 가사 여부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→ 힙합·R&amp;B 장르 강세 반영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보컬+강렬한 현대 음악 = 인기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23560" y="2304288"/>
            <a:ext cx="3291840" cy="1207008"/>
          </a:xfrm>
          <a:prstGeom prst="rect">
            <a:avLst/>
          </a:prstGeom>
          <a:solidFill>
            <a:srgbClr val="E3F2FD"/>
          </a:solidFill>
          <a:ln w="1905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760720" y="2377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🥈 2위  instrumentalness  (0.098)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60720" y="276148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보컬 없는 정도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→ 순수 악기 곡(클래식·재즈)은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스트리밍에서 비인기 경향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23560" y="3648456"/>
            <a:ext cx="3291840" cy="1207008"/>
          </a:xfrm>
          <a:prstGeom prst="rect">
            <a:avLst/>
          </a:prstGeom>
          <a:solidFill>
            <a:srgbClr val="EBF9F0"/>
          </a:solidFill>
          <a:ln w="19050">
            <a:solidFill>
              <a:srgbClr val="1DB95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60720" y="37216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🥉 3위  loudness  (0.080)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60720" y="410565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음량 크기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→ 크고 강한 곡이 유리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조용한 어쿠스틱 곡은 불리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한계와 실패 분석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</a:rPr>
              <a:t>오분류가 집중되는 경우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023360" cy="96012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81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📍  경계선상 곡들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938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popularity 45~65점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→ 인기/비인기 구분 어려운 회색지대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4023360" cy="96012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679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🎻  장르 혼재 문제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2666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클래식·재즈의 오디오 피처가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팝·힙합과 완전히 다른 패턴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4023360" cy="96012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776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</a:rPr>
              <a:t>📉  Val-Test 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1239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XGBoost Val F1 0.593 → Test 0.294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35353"/>
                </a:solidFill>
              </a:rPr>
              <a:t>하이퍼파라미터 과적합 징후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</a:rPr>
              <a:t>근본적 한계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320" y="1508760"/>
            <a:ext cx="3931920" cy="237744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627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오디오 피처만으로 설명 못하는 것들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0116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35353"/>
                </a:solidFill>
              </a:rPr>
              <a:t>아티스트 팬덤 크기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35915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35353"/>
                </a:solidFill>
              </a:rPr>
              <a:t>마케팅·프로모션 비용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70662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35353"/>
                </a:solidFill>
              </a:rPr>
              <a:t>앨범 발매 시기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05409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35353"/>
                </a:solidFill>
              </a:rPr>
              <a:t>소셜미디어 바이럴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3977640"/>
            <a:ext cx="393192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40416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914"/>
                </a:solidFill>
              </a:rPr>
              <a:t>📊  최종 평가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343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6914"/>
                </a:solidFill>
              </a:rPr>
              <a:t>F1 = 0.294, AUC = 0.722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6914"/>
                </a:solidFill>
              </a:rPr>
              <a:t>실서비스엔 부족하지만, 랜덤(0.5)보다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6914"/>
                </a:solidFill>
              </a:rPr>
              <a:t>유의미하게 높은 예측력 확인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DB954">
              <a:alpha val="10000"/>
            </a:srgbClr>
          </a:solidFill>
          <a:ln w="12700">
            <a:solidFill>
              <a:srgbClr val="1DB954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결론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1371600" cy="457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5029200" cy="62179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64008" cy="6217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0058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 오디오 피처만으로도 랜덤 대비 유의미한 예측 가능 (AUC 0.722)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5029200" cy="62179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55648"/>
            <a:ext cx="64008" cy="6217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75564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 explicit·instrumentalness가 핵심 인기 결정 인자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5029200" cy="62179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05456"/>
            <a:ext cx="64008" cy="6217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505456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⚠️  오디오 외 정보(아티스트·트렌드) 없이는 근본적 한계 존재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822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B954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60720" y="12984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3B3B3"/>
                </a:solidFill>
              </a:rPr>
              <a:t>아티스트 팔로워 수 피처 추가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760720" y="1691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3B3B3"/>
                </a:solidFill>
              </a:rPr>
              <a:t>장르별 분리 모델 학습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760720" y="20848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3B3B3"/>
                </a:solidFill>
              </a:rPr>
              <a:t>Regression으로 전환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760720" y="247802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3B3B3"/>
                </a:solidFill>
              </a:rPr>
              <a:t>Raw 오디오 → CNN 학습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760720" y="287121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3B3B3"/>
                </a:solidFill>
              </a:rPr>
              <a:t>SMOTE 오버샘플링 적용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8321040" cy="713232"/>
          </a:xfrm>
          <a:prstGeom prst="rect">
            <a:avLst/>
          </a:prstGeom>
          <a:solidFill>
            <a:srgbClr val="1DB954">
              <a:alpha val="15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5196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" 소리 자체는 인기의 일부만 설명한다.  하지만 그 일부조차도 의미 있는 신호를 담고 있다. 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히트곡 예측</dc:title>
  <dc:subject>PptxGenJS Presentation</dc:subject>
  <dc:creator>PptxGenJS</dc:creator>
  <cp:lastModifiedBy>PptxGenJS</cp:lastModifiedBy>
  <cp:revision>1</cp:revision>
  <dcterms:created xsi:type="dcterms:W3CDTF">2026-05-31T16:22:58Z</dcterms:created>
  <dcterms:modified xsi:type="dcterms:W3CDTF">2026-05-31T16:22:58Z</dcterms:modified>
</cp:coreProperties>
</file>